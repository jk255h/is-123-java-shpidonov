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17"/>
  </p:notesMasterIdLst>
  <p:sldIdLst>
    <p:sldId id="256" r:id="rId2"/>
    <p:sldId id="257" r:id="rId3"/>
    <p:sldId id="271" r:id="rId4"/>
    <p:sldId id="275" r:id="rId5"/>
    <p:sldId id="276" r:id="rId6"/>
    <p:sldId id="277" r:id="rId7"/>
    <p:sldId id="278" r:id="rId8"/>
    <p:sldId id="279" r:id="rId9"/>
    <p:sldId id="280" r:id="rId10"/>
    <p:sldId id="274" r:id="rId11"/>
    <p:sldId id="270" r:id="rId12"/>
    <p:sldId id="281" r:id="rId13"/>
    <p:sldId id="282" r:id="rId14"/>
    <p:sldId id="283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2C1D9F-3D69-4D4A-8B96-4EA5EA887356}">
          <p14:sldIdLst>
            <p14:sldId id="256"/>
            <p14:sldId id="257"/>
            <p14:sldId id="271"/>
            <p14:sldId id="275"/>
            <p14:sldId id="276"/>
            <p14:sldId id="277"/>
            <p14:sldId id="278"/>
            <p14:sldId id="279"/>
            <p14:sldId id="280"/>
            <p14:sldId id="274"/>
            <p14:sldId id="270"/>
            <p14:sldId id="281"/>
            <p14:sldId id="282"/>
            <p14:sldId id="283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24558-7E31-4B30-AD7D-0B9226F905F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0C2B1-A880-4126-9FDC-66EEA27D74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17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80C2B1-A880-4126-9FDC-66EEA27D74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38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8688F-54F7-4B69-BEB4-C978C56A339A}" type="datetime1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8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9F76A-4D51-47A5-92C5-1DDD0459D9DC}" type="datetime1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66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B446-4FE0-477E-B998-B68E1AE3A7E6}" type="datetime1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526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BF76-E1DB-4690-BB91-E4B1F09C7164}" type="datetime1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13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4E534-DEAD-4056-8494-AFC0A950A222}" type="datetime1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30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204F-B1C2-4D77-9194-4B73D36C89D4}" type="datetime1">
              <a:rPr lang="ru-RU" smtClean="0"/>
              <a:t>13.05.2026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69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CC21B-8092-49E1-B9AD-70CA99DD7508}" type="datetime1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70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4C1413C-E37A-4963-80D6-E2FAFED355FC}" type="datetime1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70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77498-BD09-4F56-BDEC-42E634164B96}" type="datetime1">
              <a:rPr lang="ru-RU" smtClean="0"/>
              <a:t>13.05.2026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2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FCE5-B3C5-410D-ACE2-C402D56AEB53}" type="datetime1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0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A9842-DF51-4118-B6ED-463E16B51530}" type="datetime1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48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54564AB-0E3A-4A7E-8564-7967EC2A4768}" type="datetime1">
              <a:rPr lang="ru-RU" smtClean="0"/>
              <a:t>13.05.2026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12C3DEE-2E3B-4E5E-A481-A43A01E3A22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4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F5B106A-69AD-4004-BEF7-ABE15F471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54502"/>
            <a:ext cx="12129856" cy="1129554"/>
          </a:xfrm>
        </p:spPr>
        <p:txBody>
          <a:bodyPr>
            <a:noAutofit/>
          </a:bodyPr>
          <a:lstStyle/>
          <a:p>
            <a:pPr algn="ctr"/>
            <a:r>
              <a:rPr lang="ru-RU" sz="2400" dirty="0"/>
              <a:t>Министерство образования и науки Российской Федерации Муромский институт (филиал) федерального государственного бюджетного 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 (МИ </a:t>
            </a:r>
            <a:r>
              <a:rPr lang="ru-RU" sz="2400" dirty="0" err="1"/>
              <a:t>ВлГУ</a:t>
            </a:r>
            <a:r>
              <a:rPr lang="ru-RU" sz="2400" dirty="0"/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27F892CA-88C9-4FE6-B813-B1AB5B95D85F}"/>
              </a:ext>
            </a:extLst>
          </p:cNvPr>
          <p:cNvSpPr txBox="1">
            <a:spLocks/>
          </p:cNvSpPr>
          <p:nvPr/>
        </p:nvSpPr>
        <p:spPr>
          <a:xfrm>
            <a:off x="0" y="2476500"/>
            <a:ext cx="12129856" cy="1905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ru-RU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Курсовая работа</a:t>
            </a:r>
            <a:endParaRPr lang="en-US" sz="30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0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 теме</a:t>
            </a:r>
            <a:r>
              <a:rPr lang="en-US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30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HTTP-сервера по проведению опросов.</a:t>
            </a:r>
          </a:p>
        </p:txBody>
      </p:sp>
      <p:graphicFrame>
        <p:nvGraphicFramePr>
          <p:cNvPr id="7" name="Объект 5">
            <a:extLst>
              <a:ext uri="{FF2B5EF4-FFF2-40B4-BE49-F238E27FC236}">
                <a16:creationId xmlns:a16="http://schemas.microsoft.com/office/drawing/2014/main" id="{36B0C92E-055A-48B0-B535-4CF22E082C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4174894"/>
              </p:ext>
            </p:extLst>
          </p:nvPr>
        </p:nvGraphicFramePr>
        <p:xfrm>
          <a:off x="8817488" y="4535074"/>
          <a:ext cx="3312368" cy="1868424"/>
        </p:xfrm>
        <a:graphic>
          <a:graphicData uri="http://schemas.openxmlformats.org/drawingml/2006/table">
            <a:tbl>
              <a:tblPr firstRow="1" firstCol="1" bandRow="1"/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2808">
                <a:tc>
                  <a:txBody>
                    <a:bodyPr/>
                    <a:lstStyle/>
                    <a:p>
                      <a:pPr indent="586740" algn="r">
                        <a:lnSpc>
                          <a:spcPct val="100000"/>
                        </a:lnSpc>
                        <a:spcAft>
                          <a:spcPts val="1170"/>
                        </a:spcAft>
                        <a:tabLst>
                          <a:tab pos="840740" algn="ctr"/>
                          <a:tab pos="4197350" algn="ctr"/>
                        </a:tabLs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Выполнил:</a:t>
                      </a:r>
                    </a:p>
                  </a:txBody>
                  <a:tcPr marL="67994" marR="6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808">
                <a:tc>
                  <a:txBody>
                    <a:bodyPr/>
                    <a:lstStyle/>
                    <a:p>
                      <a:pPr marL="586740" algn="r">
                        <a:lnSpc>
                          <a:spcPct val="100000"/>
                        </a:lnSpc>
                        <a:spcAft>
                          <a:spcPts val="1170"/>
                        </a:spcAft>
                        <a:tabLst>
                          <a:tab pos="678815" algn="ctr"/>
                          <a:tab pos="4197350" algn="ctr"/>
                        </a:tabLst>
                      </a:pP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студент </a:t>
                      </a:r>
                      <a:r>
                        <a:rPr lang="ru-RU" sz="2000" b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группы ИС-123</a:t>
                      </a:r>
                      <a:endParaRPr lang="ru-RU" sz="20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7994" marR="6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808">
                <a:tc>
                  <a:txBody>
                    <a:bodyPr/>
                    <a:lstStyle/>
                    <a:p>
                      <a:pPr indent="586740" algn="r">
                        <a:lnSpc>
                          <a:spcPct val="100000"/>
                        </a:lnSpc>
                        <a:spcAft>
                          <a:spcPts val="1170"/>
                        </a:spcAft>
                        <a:tabLst>
                          <a:tab pos="840740" algn="ctr"/>
                          <a:tab pos="4197350" algn="ctr"/>
                        </a:tabLst>
                      </a:pPr>
                      <a:r>
                        <a:rPr lang="ru-RU" sz="2000" b="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Шпидонов</a:t>
                      </a:r>
                      <a:r>
                        <a:rPr lang="ru-RU" sz="2000" b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Н.А</a:t>
                      </a:r>
                    </a:p>
                  </a:txBody>
                  <a:tcPr marL="67994" marR="6799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636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63B19-D9C1-409A-9D99-A2EA8BF1CF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7338"/>
            <a:ext cx="12192000" cy="435151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sz="4400" b="1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BEA939-ACD8-4947-B53B-1C23265D88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286933"/>
            <a:ext cx="12192000" cy="4582055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Целью является  проектирование и разработка многофункционального веб-сервиса для проведения опросов. В рамках работы будет разработана система, которая позволяет пользователям создавать опросы, проходить их, а администраторам и создателям опросов анализировать собранные данные.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Изучение продуктов-аналогов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Изучение литературных источников по теме проектирования баз данных и разработки веб-приложений;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Разработка структуры базы данных для хранения информации об опросах, вопросах, ответах и пользователях;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Реализация серверной части приложения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отвечающей за всю логику - управление опросами, обработку ответов и формирование отчетов;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Создание пользовательского интерфейса 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для создания и прохождения опросов, а также для просмотра статистики и результатов;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Тестирование и отладка программы.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8C0981-31BD-42A9-BA37-A6FC600F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483463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6B880-79EA-4DC0-BAC9-F6BC7D41FC13}"/>
              </a:ext>
            </a:extLst>
          </p:cNvPr>
          <p:cNvSpPr txBox="1"/>
          <p:nvPr/>
        </p:nvSpPr>
        <p:spPr>
          <a:xfrm>
            <a:off x="0" y="214489"/>
            <a:ext cx="12192000" cy="578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Выбор инструментов для разработки</a:t>
            </a:r>
          </a:p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разработки были выбраны следующие инструменты и технологии: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Платформа и фреймворк: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Этот фреймворк был выбран, так как он основан на классическом архитектурном паттерне MVC         (Модель-Представление-Контроллер), который обеспечивает четкое разделение логики, данных и пользовательского интерфейса. Использование экосистемы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создавать гибкое, масштабируемое приложение и упрощает его поддержку, в том числе за счет встроенных механизмов безопасности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Fierbird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RedExpert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Надежность и удобств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проектировании и администрировании базы данных</a:t>
            </a:r>
          </a:p>
          <a:p>
            <a:pPr algn="just"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(пользовательский интерфейс):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JavaScript, Chart.js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стандартным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шаблонизатором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создания динамических веб-страниц.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использовался для добавления интерактивности, а библиотека Chart.js — специально для наглядной визуализации результатов опросов в виде графиков и диаграмм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06C1A2-C066-4C58-AA90-A928D7C7D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66902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355CA8-38AA-4D66-9387-FAA67515A64D}"/>
              </a:ext>
            </a:extLst>
          </p:cNvPr>
          <p:cNvSpPr txBox="1"/>
          <p:nvPr/>
        </p:nvSpPr>
        <p:spPr>
          <a:xfrm>
            <a:off x="0" y="106532"/>
            <a:ext cx="121920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  <a:p>
            <a:pPr algn="ctr"/>
            <a:endParaRPr lang="ru-RU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/>
              <a:t>Google </a:t>
            </a:r>
            <a:r>
              <a:rPr lang="ru-RU" b="1" dirty="0"/>
              <a:t>Формы</a:t>
            </a:r>
            <a:r>
              <a:rPr lang="ru-RU" dirty="0"/>
              <a:t>— первый аналог на примере которого и была построена логика веб-приложения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D22BF2C-3178-4C6D-B701-D828FBBC2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4E3B6B-0F50-4B10-A546-BF59210F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04" y="1830081"/>
            <a:ext cx="8157848" cy="44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3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98C0BD-F083-48B3-A00D-358FDB067401}"/>
              </a:ext>
            </a:extLst>
          </p:cNvPr>
          <p:cNvSpPr/>
          <p:nvPr/>
        </p:nvSpPr>
        <p:spPr>
          <a:xfrm>
            <a:off x="0" y="96227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Yandex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формы: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аналог который был рассмотрен, имеющий множество различных дополнительных функций, в том числе и смена тем у формы, интеграция с почтой и множеством других настроек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512CA80F-B125-4673-8CB2-4193040D7B5F}"/>
              </a:ext>
            </a:extLst>
          </p:cNvPr>
          <p:cNvSpPr txBox="1">
            <a:spLocks/>
          </p:cNvSpPr>
          <p:nvPr/>
        </p:nvSpPr>
        <p:spPr>
          <a:xfrm>
            <a:off x="10072093" y="6471961"/>
            <a:ext cx="21199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B6C20A-07FA-41B2-B6F4-D75E0BEF5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618" y="913556"/>
            <a:ext cx="5399399" cy="25996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E0F185-189E-4AB6-8C72-1CB9B629A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3557"/>
            <a:ext cx="6718619" cy="54489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72FBCC-4683-41F3-85AD-7884367F3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618" y="3513238"/>
            <a:ext cx="5399400" cy="284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1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 проектирования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2ED0CF8B-87E5-456B-BA51-2B912DC17C1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1370"/>
            <a:ext cx="4478655" cy="2502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2AD399-7762-4131-A42F-5A5FABC67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6225"/>
            <a:ext cx="5915025" cy="31527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F9C030-2134-497A-AC14-C611E8BA9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661" y="3712057"/>
            <a:ext cx="609685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4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Интерфейсы и реализации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B9CA6D-AE7C-424C-91ED-DF9B2E45B6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65" b="16250"/>
          <a:stretch/>
        </p:blipFill>
        <p:spPr>
          <a:xfrm>
            <a:off x="0" y="656276"/>
            <a:ext cx="6205491" cy="25929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A48326-EE28-4011-9DFE-1AA4AB30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0223"/>
            <a:ext cx="6205491" cy="27196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65AEA4-2B7E-4D3A-8816-EF7FCE11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417" y="3299584"/>
            <a:ext cx="2848373" cy="29507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4C444B-1AB7-483F-86DA-1B3F9AB33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195" y="658065"/>
            <a:ext cx="5569149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67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и взаимодействие интерфейсов</a:t>
            </a: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EF3988-0703-44A1-B848-B62B61A7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7" y="800782"/>
            <a:ext cx="6728445" cy="55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05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2091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тестирование 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B0D5CC-1B56-45C3-AB6B-7A6D5A263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588" y="1607543"/>
            <a:ext cx="6654189" cy="33992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8C89C1-8037-422D-BC02-64D7B31AD4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316" r="13848" b="-316"/>
          <a:stretch/>
        </p:blipFill>
        <p:spPr>
          <a:xfrm>
            <a:off x="88258" y="1607543"/>
            <a:ext cx="5449553" cy="33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95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432C6F-173D-43FA-98D7-D3F59EF1E938}"/>
              </a:ext>
            </a:extLst>
          </p:cNvPr>
          <p:cNvSpPr txBox="1"/>
          <p:nvPr/>
        </p:nvSpPr>
        <p:spPr>
          <a:xfrm>
            <a:off x="112889" y="20914"/>
            <a:ext cx="11871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3990C5FE-77BB-4B34-AE8F-3FF1699F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1C58A9-69B1-4F5A-B661-37CEC9EC648E}"/>
              </a:ext>
            </a:extLst>
          </p:cNvPr>
          <p:cNvSpPr txBox="1"/>
          <p:nvPr/>
        </p:nvSpPr>
        <p:spPr>
          <a:xfrm>
            <a:off x="0" y="1302464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Разработка базы данных была проведена в несколько логических этапов, чтобы обеспечить надежное хранение данных и поддержку всех функций приложения.</a:t>
            </a:r>
          </a:p>
          <a:p>
            <a:r>
              <a:rPr lang="ru-RU" dirty="0"/>
              <a:t>    1. Анализ требований: были определены ключевые потребности проекта: хранение иерархических данных, поддержка различных типов вопросов.</a:t>
            </a:r>
          </a:p>
          <a:p>
            <a:r>
              <a:rPr lang="ru-RU" dirty="0"/>
              <a:t>   2. Логическое проектирование: была разработана реляционная модель, включающая основные таблицы — Пользователи, Опросы, Вопросы, Варианты ответов и Ответы. </a:t>
            </a:r>
          </a:p>
          <a:p>
            <a:r>
              <a:rPr lang="ru-RU" dirty="0"/>
              <a:t>   3. Физическое проектирование и реализация: логическая модель была преобразована в реальные таблицы. Были установлены связи между таблицами с использованием внешних ключей и правилами каскадного удаления для целостности данных. </a:t>
            </a:r>
          </a:p>
        </p:txBody>
      </p:sp>
    </p:spTree>
    <p:extLst>
      <p:ext uri="{BB962C8B-B14F-4D97-AF65-F5344CB8AC3E}">
        <p14:creationId xmlns:p14="http://schemas.microsoft.com/office/powerpoint/2010/main" val="1036845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БД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46F912-47BF-4948-983F-77804367D8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12885" y="1118792"/>
            <a:ext cx="8320451" cy="513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33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3305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окна приложения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31D980-9B58-4485-A367-9A0925DE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2497"/>
            <a:ext cx="3972479" cy="341042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F07762-897E-4185-9186-B82F3BD6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5" y="4109655"/>
            <a:ext cx="3581900" cy="217200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408898-50A0-44FC-828D-F03624C20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480" y="902497"/>
            <a:ext cx="8056764" cy="19243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344829-6DC9-4DE0-9DEA-219C0B3E14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830" y="2908962"/>
            <a:ext cx="7860333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60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5265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окна приложения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E23E7B-D200-4061-BE37-D59DBF0D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991278"/>
            <a:ext cx="5868219" cy="53919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8246AD-EAFD-4A61-A495-EEF329044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56" y="1074198"/>
            <a:ext cx="5124844" cy="490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60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0F6F0-AD34-474E-83E4-E042D3BB2F32}"/>
              </a:ext>
            </a:extLst>
          </p:cNvPr>
          <p:cNvSpPr txBox="1"/>
          <p:nvPr/>
        </p:nvSpPr>
        <p:spPr>
          <a:xfrm>
            <a:off x="0" y="152651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окна приложения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телефона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Номер слайда 3">
            <a:extLst>
              <a:ext uri="{FF2B5EF4-FFF2-40B4-BE49-F238E27FC236}">
                <a16:creationId xmlns:a16="http://schemas.microsoft.com/office/drawing/2014/main" id="{DFA4FF5E-A523-4522-9C53-93F61DE0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982FF0-0DBB-42E3-937E-19D9DDB34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94" y="1085295"/>
            <a:ext cx="2109335" cy="468741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1DF739-20E8-4EC1-A9A3-B23B4FECB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663" y="1085295"/>
            <a:ext cx="2109335" cy="46874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BF2F24-0AD3-4F8E-A456-8907C1047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698" y="1082551"/>
            <a:ext cx="2109335" cy="46874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704A126-62CA-42BF-9985-B83E941CA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5675" y="1082551"/>
            <a:ext cx="2109335" cy="468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1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47A59-5477-4C0A-9D91-2CB8E12E9F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12889" y="287338"/>
            <a:ext cx="12304889" cy="34448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solidFill>
                  <a:schemeClr val="tx1"/>
                </a:solidFill>
              </a:rPr>
              <a:t>Заключение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DA0E2-4604-4506-A766-AEF8BD2618A6}"/>
              </a:ext>
            </a:extLst>
          </p:cNvPr>
          <p:cNvSpPr txBox="1"/>
          <p:nvPr/>
        </p:nvSpPr>
        <p:spPr>
          <a:xfrm>
            <a:off x="0" y="1546225"/>
            <a:ext cx="120292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данной курсовой работы был разработан полнофункциональный веб-сервис для создания и проведения опросов. 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позволил закрепить теорию и получить практические навыки в проектировании баз данных, веб-программировании и тестировании.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разработки были успешно применены современные технологии, включая экосистему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язык программирования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реализована грамотная клиент-серверная архитектура. 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Созданный продукт имеет как практическую ценность в качестве инструмента для сбора данных, так и образовательную как пример качественного веб-приложения. </a:t>
            </a:r>
          </a:p>
          <a:p>
            <a:pPr indent="432000"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цели и задачи, поставленные в курсовой работе, были полностью достигнуты.</a:t>
            </a:r>
          </a:p>
        </p:txBody>
      </p:sp>
      <p:sp>
        <p:nvSpPr>
          <p:cNvPr id="5" name="Номер слайда 3">
            <a:extLst>
              <a:ext uri="{FF2B5EF4-FFF2-40B4-BE49-F238E27FC236}">
                <a16:creationId xmlns:a16="http://schemas.microsoft.com/office/drawing/2014/main" id="{C201DC5E-BD2C-47DD-A1BA-66E37E11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72093" y="6471961"/>
            <a:ext cx="2119907" cy="365125"/>
          </a:xfrm>
        </p:spPr>
        <p:txBody>
          <a:bodyPr/>
          <a:lstStyle/>
          <a:p>
            <a:fld id="{812C3DEE-2E3B-4E5E-A481-A43A01E3A224}" type="slidenum">
              <a:rPr lang="ru-RU" sz="1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837965787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591</TotalTime>
  <Words>556</Words>
  <Application>Microsoft Office PowerPoint</Application>
  <PresentationFormat>Широкоэкранный</PresentationFormat>
  <Paragraphs>64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Ретро</vt:lpstr>
      <vt:lpstr>Министерство образования и науки Российской Федерации Муромский институт (филиал) федерального государственного бюджетного образовательного учреждения высшего образования «Владимирский государственный университет имени Александра Григорьевича и Николая Григорьевича Столетовых» (МИ ВлГУ)</vt:lpstr>
      <vt:lpstr>Цель и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профессиональное образовательное учреждение Владимирской области «Муромский колледж радиоэлектронного приборостроения»</dc:title>
  <dc:creator>Nikita</dc:creator>
  <cp:lastModifiedBy>minecraft minecraft</cp:lastModifiedBy>
  <cp:revision>50</cp:revision>
  <dcterms:created xsi:type="dcterms:W3CDTF">2022-12-01T10:09:00Z</dcterms:created>
  <dcterms:modified xsi:type="dcterms:W3CDTF">2026-05-13T17:21:51Z</dcterms:modified>
</cp:coreProperties>
</file>